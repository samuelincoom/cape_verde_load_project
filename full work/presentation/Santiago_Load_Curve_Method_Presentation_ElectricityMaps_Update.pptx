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32"/>
                </a:solidFill>
              </a:defRPr>
            </a:pPr>
            <a:r>
              <a:t>Santiago Island 2023 Load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9555F"/>
                </a:solidFill>
              </a:defRPr>
            </a:pPr>
            <a:r>
              <a:t>RE100 input pack update with Electricity Maps national-shape caveat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493776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F766E"/>
                </a:solidFill>
              </a:defRPr>
            </a:pPr>
            <a:r>
              <a:t>Annual anchor: 263.834916 GWh</a:t>
            </a:r>
          </a:p>
          <a:p>
            <a:pPr>
              <a:spcAft>
                <a:spcPts val="1200"/>
              </a:spcAft>
              <a:defRPr sz="2200" b="0">
                <a:solidFill>
                  <a:srgbClr val="142D32"/>
                </a:solidFill>
              </a:defRPr>
            </a:pPr>
            <a:r>
              <a:t>Reconstructed peak: 42.039 MW</a:t>
            </a:r>
          </a:p>
          <a:p>
            <a:pPr>
              <a:spcAft>
                <a:spcPts val="1200"/>
              </a:spcAft>
              <a:defRPr sz="2200" b="0">
                <a:solidFill>
                  <a:srgbClr val="142D32"/>
                </a:solidFill>
              </a:defRPr>
            </a:pPr>
            <a:r>
              <a:t>Average load: 30.118 MW</a:t>
            </a:r>
          </a:p>
          <a:p>
            <a:pPr>
              <a:spcAft>
                <a:spcPts val="1200"/>
              </a:spcAft>
              <a:defRPr sz="2200" b="0">
                <a:solidFill>
                  <a:srgbClr val="142D32"/>
                </a:solidFill>
              </a:defRPr>
            </a:pPr>
            <a:r>
              <a:t>Load factor: 71.64%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1645920"/>
            <a:ext cx="539496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42D32"/>
                </a:solidFill>
              </a:defRPr>
            </a:pPr>
            <a:r>
              <a:t>Purpose: prepare inputs for Prof. Hohmeyer's existing hourly RE100 Excel model.</a:t>
            </a:r>
          </a:p>
          <a:p>
            <a:pPr>
              <a:spcAft>
                <a:spcPts val="1000"/>
              </a:spcAft>
              <a:defRPr sz="1600">
                <a:solidFill>
                  <a:srgbClr val="142D32"/>
                </a:solidFill>
              </a:defRPr>
            </a:pPr>
            <a:r>
              <a:t>This package does not create a new model and does not modify model formulas.</a:t>
            </a:r>
          </a:p>
          <a:p>
            <a:pPr>
              <a:spcAft>
                <a:spcPts val="1000"/>
              </a:spcAft>
              <a:defRPr sz="1600">
                <a:solidFill>
                  <a:srgbClr val="142D32"/>
                </a:solidFill>
              </a:defRPr>
            </a:pPr>
            <a:r>
              <a:t>The Santiago hourly load curve is reconstructed, not raw utility SCADA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9555F"/>
                </a:solidFill>
              </a:defRPr>
            </a:pPr>
            <a:r>
              <a:t>Santiago RE100 input pack | Generated evidence package | Not official hourly SCADA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32"/>
                </a:solidFill>
              </a:defRPr>
            </a:pPr>
            <a:r>
              <a:t>DTU Santiago Load Reconstruction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9555F"/>
                </a:solidFill>
              </a:defRPr>
            </a:pPr>
            <a:r>
              <a:t>Santiago-specific DTU shape scaled to Electra's official 2023 annual total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42D32"/>
                </a:solidFill>
              </a:defRPr>
            </a:pPr>
            <a:r>
              <a:t>Source shape: DTU Cape Verde Reference System, `SantiagoData_v4.xlsx`, sheet `Equivalent Week Profile Load`.</a:t>
            </a:r>
          </a:p>
          <a:p>
            <a:pPr>
              <a:spcAft>
                <a:spcPts val="1000"/>
              </a:spcAft>
              <a:defRPr sz="1600">
                <a:solidFill>
                  <a:srgbClr val="142D32"/>
                </a:solidFill>
              </a:defRPr>
            </a:pPr>
            <a:r>
              <a:t>Mapping: equivalent_day = (month - 1) * 7 + weekday_number, with Monday = 1 and Sunday = 7.</a:t>
            </a:r>
          </a:p>
          <a:p>
            <a:pPr>
              <a:spcAft>
                <a:spcPts val="1000"/>
              </a:spcAft>
              <a:defRPr sz="1600">
                <a:solidFill>
                  <a:srgbClr val="142D32"/>
                </a:solidFill>
              </a:defRPr>
            </a:pPr>
            <a:r>
              <a:t>Scaling: load_mw = profile_value / annual_profile_sum * 263,839.489 MWh.</a:t>
            </a:r>
          </a:p>
          <a:p>
            <a:pPr>
              <a:spcAft>
                <a:spcPts val="1000"/>
              </a:spcAft>
              <a:defRPr sz="1600">
                <a:solidFill>
                  <a:srgbClr val="142D32"/>
                </a:solidFill>
              </a:defRPr>
            </a:pPr>
            <a:r>
              <a:t>Annual total accuracy: 100% against the Electra 2023 Santiago annual production anchor by construction.</a:t>
            </a:r>
          </a:p>
          <a:p>
            <a:pPr>
              <a:spcAft>
                <a:spcPts val="1000"/>
              </a:spcAft>
              <a:defRPr sz="1600">
                <a:solidFill>
                  <a:srgbClr val="142D32"/>
                </a:solidFill>
              </a:defRPr>
            </a:pPr>
            <a:r>
              <a:t>Hour-by-hour measured accuracy cannot be certified without Electra/EDEC's real 8760-hour meter record.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9555F"/>
                </a:solidFill>
              </a:defRPr>
            </a:pPr>
            <a:r>
              <a:t>Santiago RE100 input pack | Generated evidence package | Not official hourly SCADA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32"/>
                </a:solidFill>
              </a:defRPr>
            </a:pPr>
            <a:r>
              <a:t>Load Evidence Charts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9555F"/>
                </a:solidFill>
              </a:defRPr>
            </a:pPr>
            <a:r>
              <a:t>Reconstructed Santiago hourly-load summaries used for the RE100 input vector</a:t>
            </a:r>
          </a:p>
        </p:txBody>
      </p:sp>
      <p:pic>
        <p:nvPicPr>
          <p:cNvPr id="4" name="Picture 3" descr="average_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440680" cy="2761989"/>
          </a:xfrm>
          <a:prstGeom prst="rect">
            <a:avLst/>
          </a:prstGeom>
        </p:spPr>
      </p:pic>
      <p:pic>
        <p:nvPicPr>
          <p:cNvPr id="5" name="Picture 4" descr="monthly_ener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34440"/>
            <a:ext cx="5440680" cy="27597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9555F"/>
                </a:solidFill>
              </a:defRPr>
            </a:pPr>
            <a:r>
              <a:t>Santiago RE100 input pack | Generated evidence package | Not official hourly SCADA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32"/>
                </a:solidFill>
              </a:defRPr>
            </a:pPr>
            <a:r>
              <a:t>Electricity Maps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9555F"/>
                </a:solidFill>
              </a:defRPr>
            </a:pPr>
            <a:r>
              <a:t>Useful national benchmark, not Santiago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42D32"/>
                </a:solidFill>
              </a:defRPr>
            </a:pPr>
            <a:r>
              <a:t>Electricity Maps reports Cabo Verde as national zone `CV`, not Santiago Island specifically.</a:t>
            </a:r>
          </a:p>
          <a:p>
            <a:pPr>
              <a:spcAft>
                <a:spcPts val="1000"/>
              </a:spcAft>
              <a:defRPr sz="1600">
                <a:solidFill>
                  <a:srgbClr val="142D32"/>
                </a:solidFill>
              </a:defRPr>
            </a:pPr>
            <a:r>
              <a:t>The CV zone is Tier C in Electricity Maps documentation, so hourly values may be modelled from lower-frequency data.</a:t>
            </a:r>
          </a:p>
          <a:p>
            <a:pPr>
              <a:spcAft>
                <a:spcPts val="1000"/>
              </a:spcAft>
              <a:defRPr sz="1600">
                <a:solidFill>
                  <a:srgbClr val="142D32"/>
                </a:solidFill>
              </a:defRPr>
            </a:pPr>
            <a:r>
              <a:t>Use case: national timing-shape benchmark and sensitivity check only.</a:t>
            </a:r>
          </a:p>
          <a:p>
            <a:pPr>
              <a:spcAft>
                <a:spcPts val="1000"/>
              </a:spcAft>
              <a:defRPr sz="1600">
                <a:solidFill>
                  <a:srgbClr val="142D32"/>
                </a:solidFill>
              </a:defRPr>
            </a:pPr>
            <a:r>
              <a:t>Non-use case: do not replace the Santiago DTU profile and do not claim official Santiago hourly meter accuracy.</a:t>
            </a:r>
          </a:p>
          <a:p>
            <a:pPr>
              <a:spcAft>
                <a:spcPts val="1000"/>
              </a:spcAft>
              <a:defRPr sz="1600">
                <a:solidFill>
                  <a:srgbClr val="142D32"/>
                </a:solidFill>
              </a:defRPr>
            </a:pPr>
            <a:r>
              <a:t>In the generated RE100 pack, no Electricity Maps CSV/token was available locally, so download was skipped and documented.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9555F"/>
                </a:solidFill>
              </a:defRPr>
            </a:pPr>
            <a:r>
              <a:t>Santiago RE100 input pack | Generated evidence package | Not official hourly SCADA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32"/>
                </a:solidFill>
              </a:defRPr>
            </a:pPr>
            <a:r>
              <a:t>How Files Connect to the RE100 Workbook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9555F"/>
                </a:solidFill>
              </a:defRPr>
            </a:pPr>
            <a:r>
              <a:t>Inputs are prepared for the professor's existing model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42D32"/>
                </a:solidFill>
              </a:defRPr>
            </a:pPr>
            <a:r>
              <a:t>Hourly load vector: `Hourly Load!F7:F8766`, 8760 values in MWh/h, equivalent to MW for a one-hour step.</a:t>
            </a:r>
          </a:p>
          <a:p>
            <a:pPr>
              <a:spcAft>
                <a:spcPts val="1000"/>
              </a:spcAft>
              <a:defRPr sz="1600">
                <a:solidFill>
                  <a:srgbClr val="142D32"/>
                </a:solidFill>
              </a:defRPr>
            </a:pPr>
            <a:r>
              <a:t>Wind vector: `Wind and Solar Input!D5:D8764`, 8760 hourly wind-speed values.</a:t>
            </a:r>
          </a:p>
          <a:p>
            <a:pPr>
              <a:spcAft>
                <a:spcPts val="1000"/>
              </a:spcAft>
              <a:defRPr sz="1600">
                <a:solidFill>
                  <a:srgbClr val="142D32"/>
                </a:solidFill>
              </a:defRPr>
            </a:pPr>
            <a:r>
              <a:t>Solar vector: `Wind and Solar Input!E5:E8764`, 8760 hourly total solar-radiation values in kW/m2.</a:t>
            </a:r>
          </a:p>
          <a:p>
            <a:pPr>
              <a:spcAft>
                <a:spcPts val="1000"/>
              </a:spcAft>
              <a:defRPr sz="1600">
                <a:solidFill>
                  <a:srgbClr val="142D32"/>
                </a:solidFill>
              </a:defRPr>
            </a:pPr>
            <a:r>
              <a:t>Scenario inputs: yellow cells in `Input &amp; Output`, documented in the audit workbook.</a:t>
            </a:r>
          </a:p>
          <a:p>
            <a:pPr>
              <a:spcAft>
                <a:spcPts val="1000"/>
              </a:spcAft>
              <a:defRPr sz="1600">
                <a:solidFill>
                  <a:srgbClr val="142D32"/>
                </a:solidFill>
              </a:defRPr>
            </a:pPr>
            <a:r>
              <a:t>Generated audit workbook tracks target cell/range, unit, value, source, confidence class, and explanation.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9555F"/>
                </a:solidFill>
              </a:defRPr>
            </a:pPr>
            <a:r>
              <a:t>Santiago RE100 input pack | Generated evidence package | Not official hourly SCADA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32"/>
                </a:solidFill>
              </a:defRPr>
            </a:pPr>
            <a:r>
              <a:t>Confidence and Sharing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9555F"/>
                </a:solidFill>
              </a:defRPr>
            </a:pPr>
            <a:r>
              <a:t>The package separates official facts, reconstructed data, and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42D32"/>
                </a:solidFill>
              </a:defRPr>
            </a:pPr>
            <a:r>
              <a:t>A/B: official annual and peak values from Electra, with clear transformations where needed.</a:t>
            </a:r>
          </a:p>
          <a:p>
            <a:pPr>
              <a:spcAft>
                <a:spcPts val="1000"/>
              </a:spcAft>
              <a:defRPr sz="1600">
                <a:solidFill>
                  <a:srgbClr val="142D32"/>
                </a:solidFill>
              </a:defRPr>
            </a:pPr>
            <a:r>
              <a:t>C: DTU Santiago profile and public reanalysis weather inputs.</a:t>
            </a:r>
          </a:p>
          <a:p>
            <a:pPr>
              <a:spcAft>
                <a:spcPts val="1000"/>
              </a:spcAft>
              <a:defRPr sz="1600">
                <a:solidFill>
                  <a:srgbClr val="142D32"/>
                </a:solidFill>
              </a:defRPr>
            </a:pPr>
            <a:r>
              <a:t>D: scenario capacities, storage choices, and generic technical/economic model defaults.</a:t>
            </a:r>
          </a:p>
          <a:p>
            <a:pPr>
              <a:spcAft>
                <a:spcPts val="1000"/>
              </a:spcAft>
              <a:defRPr sz="1600">
                <a:solidFill>
                  <a:srgbClr val="142D32"/>
                </a:solidFill>
              </a:defRPr>
            </a:pPr>
            <a:r>
              <a:t>The filled professor workbook was generated locally but is not redistributed here unless sharing permission is confirmed.</a:t>
            </a:r>
          </a:p>
          <a:p>
            <a:pPr>
              <a:spcAft>
                <a:spcPts val="1000"/>
              </a:spcAft>
              <a:defRPr sz="1600">
                <a:solidFill>
                  <a:srgbClr val="142D32"/>
                </a:solidFill>
              </a:defRPr>
            </a:pPr>
            <a:r>
              <a:t>Open `Santiago_RE100_Input_Audit.xlsx` first for the defensibility trail.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9555F"/>
                </a:solidFill>
              </a:defRPr>
            </a:pPr>
            <a:r>
              <a:t>Santiago RE100 input pack | Generated evidence package | Not official hourly SCADA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